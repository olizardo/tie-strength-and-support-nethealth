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y="5143500" cx="9144000"/>
  <p:notesSz cx="6858000" cy="9144000"/>
  <p:embeddedFontLst>
    <p:embeddedFont>
      <p:font typeface="Economica"/>
      <p:regular r:id="rId44"/>
      <p:bold r:id="rId45"/>
      <p:italic r:id="rId46"/>
      <p:boldItalic r:id="rId47"/>
    </p:embeddedFont>
    <p:embeddedFont>
      <p:font typeface="Open Sans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D60508DA-2E81-48BC-83BB-80EE93AA0328}">
  <a:tblStyle styleId="{D60508DA-2E81-48BC-83BB-80EE93AA03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font" Target="fonts/Economica-regular.fntdata"/><Relationship Id="rId43" Type="http://schemas.openxmlformats.org/officeDocument/2006/relationships/slide" Target="slides/slide36.xml"/><Relationship Id="rId46" Type="http://schemas.openxmlformats.org/officeDocument/2006/relationships/font" Target="fonts/Economica-italic.fntdata"/><Relationship Id="rId45" Type="http://schemas.openxmlformats.org/officeDocument/2006/relationships/font" Target="fonts/Economica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OpenSans-regular.fntdata"/><Relationship Id="rId47" Type="http://schemas.openxmlformats.org/officeDocument/2006/relationships/font" Target="fonts/Economica-boldItalic.fntdata"/><Relationship Id="rId49" Type="http://schemas.openxmlformats.org/officeDocument/2006/relationships/font" Target="fonts/OpenSans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OpenSans-boldItalic.fntdata"/><Relationship Id="rId50" Type="http://schemas.openxmlformats.org/officeDocument/2006/relationships/font" Target="fonts/OpenSans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Shape 11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Shape 12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Shape 12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Shape 13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Shape 14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Shape 16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Shape 16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Shape 17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Shape 17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Shape 19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Shape 20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21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Shape 21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22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Shape 22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Shape 23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Shape 23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Shape 24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Shape 25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26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Shape 26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26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Shape 27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27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Shape 27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Shape 28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29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Shape 29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Shape 30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Overall Distribution</a:t>
            </a:r>
            <a:endParaRPr/>
          </a:p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Marginal Distributions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Less Close →  Less Frequent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Lower Position → Less Frequent</a:t>
            </a:r>
            <a:endParaRPr/>
          </a:p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Joint Distributions</a:t>
            </a:r>
            <a:endParaRPr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Three - way association</a:t>
            </a:r>
            <a:endParaRPr/>
          </a:p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Compare row (column) to marginal distributions</a:t>
            </a:r>
            <a:endParaRPr/>
          </a:p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 3-way association</a:t>
            </a:r>
            <a:endParaRPr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Summary</a:t>
            </a:r>
            <a:endParaRPr/>
          </a:p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F*C</a:t>
            </a:r>
            <a:endParaRPr/>
          </a:p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F*P</a:t>
            </a:r>
            <a:endParaRPr/>
          </a:p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C*P 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31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Shape 31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Shape 31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Shape 32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hape 32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Shape 32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hape 33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Shape 33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Shape 33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Shape 33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Shape 34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34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Shape 34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Full Support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Daily,</a:t>
            </a:r>
            <a:r>
              <a:rPr lang="en"/>
              <a:t> weekly, not others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Esp. Close *, not others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Top 5</a:t>
            </a:r>
            <a:endParaRPr/>
          </a:p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Financial Support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Weekly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Esp. Close, not Close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Top 5</a:t>
            </a:r>
            <a:endParaRPr/>
          </a:p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Social Support (Hanging out) 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Daily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Close, not other categories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Bottom 10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Shape 35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Shape 35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36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Shape 36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Esp Close Friends: Not financial</a:t>
            </a:r>
            <a:endParaRPr/>
          </a:p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Close or less close friends: hang out</a:t>
            </a:r>
            <a:endParaRPr/>
          </a:p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Esp. Close Family:  Financial and all types	</a:t>
            </a:r>
            <a:endParaRPr/>
          </a:p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Close Family:  Financial</a:t>
            </a:r>
            <a:endParaRPr/>
          </a:p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Partner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Esp. Close →  all types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Close or less → hang</a:t>
            </a:r>
            <a:endParaRPr/>
          </a:p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Acquaintance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Not close &amp; no support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But if close or less →  advice/comfort</a:t>
            </a:r>
            <a:endParaRPr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36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Shape 36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Shape 37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Shape 37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37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Shape 37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744013" y="756700"/>
            <a:ext cx="1081625" cy="1124950"/>
          </a:xfrm>
          <a:custGeom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Shape 11"/>
          <p:cNvSpPr/>
          <p:nvPr/>
        </p:nvSpPr>
        <p:spPr>
          <a:xfrm rot="10800000">
            <a:off x="5318350" y="3266725"/>
            <a:ext cx="1081625" cy="1124950"/>
          </a:xfrm>
          <a:custGeom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Shape 1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Shape 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Shape 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/>
          <p:nvPr/>
        </p:nvSpPr>
        <p:spPr>
          <a:xfrm flipH="1">
            <a:off x="7595938" y="460225"/>
            <a:ext cx="1081625" cy="1124950"/>
          </a:xfrm>
          <a:custGeom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Shape 17"/>
          <p:cNvSpPr/>
          <p:nvPr/>
        </p:nvSpPr>
        <p:spPr>
          <a:xfrm flipH="1" rot="10800000">
            <a:off x="466425" y="3558325"/>
            <a:ext cx="1081625" cy="1124950"/>
          </a:xfrm>
          <a:custGeom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Shape 18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Shape 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Shape 2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Shape 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14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Shape 28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14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Shape 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Shape 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Shape 35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Shape 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Shape 39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Shape 43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Shape 44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Shape 45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Shape 4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Shape 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Shape 5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Shape 54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Shape 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/>
          <p:nvPr/>
        </p:nvSpPr>
        <p:spPr>
          <a:xfrm>
            <a:off x="2744013" y="756700"/>
            <a:ext cx="1081625" cy="1124950"/>
          </a:xfrm>
          <a:custGeom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4" name="Shape 64"/>
          <p:cNvSpPr/>
          <p:nvPr/>
        </p:nvSpPr>
        <p:spPr>
          <a:xfrm rot="10800000">
            <a:off x="5318350" y="3266725"/>
            <a:ext cx="1081625" cy="1124950"/>
          </a:xfrm>
          <a:custGeom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5" name="Shape 65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6" name="Shape 66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67" name="Shape 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/>
          <p:nvPr/>
        </p:nvSpPr>
        <p:spPr>
          <a:xfrm flipH="1">
            <a:off x="7595938" y="460225"/>
            <a:ext cx="1081625" cy="1124950"/>
          </a:xfrm>
          <a:custGeom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0" name="Shape 70"/>
          <p:cNvSpPr/>
          <p:nvPr/>
        </p:nvSpPr>
        <p:spPr>
          <a:xfrm flipH="1" rot="10800000">
            <a:off x="466425" y="3558325"/>
            <a:ext cx="1081625" cy="1124950"/>
          </a:xfrm>
          <a:custGeom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1" name="Shape 71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Shape 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Shape 7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6" name="Shape 7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Shape 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0" name="Shape 80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Shape 81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Shape 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5" name="Shape 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8" name="Shape 88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Shape 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Shape 92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3" name="Shape 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" name="Shape 96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Shape 97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8" name="Shape 98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9" name="Shape 9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Shape 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103" name="Shape 10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Shape 106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Shape 107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Shape 1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luxe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60" name="Shape 6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1" name="Shape 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olizardo@soc.ucla.edu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 txBox="1"/>
          <p:nvPr>
            <p:ph type="title"/>
          </p:nvPr>
        </p:nvSpPr>
        <p:spPr>
          <a:xfrm>
            <a:off x="1375950" y="516375"/>
            <a:ext cx="6392100" cy="153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Tie strength, role relations, and social support</a:t>
            </a:r>
            <a:r>
              <a:rPr lang="en" sz="3600"/>
              <a:t> in ego networks</a:t>
            </a:r>
            <a:endParaRPr sz="3600"/>
          </a:p>
        </p:txBody>
      </p:sp>
      <p:sp>
        <p:nvSpPr>
          <p:cNvPr id="116" name="Shape 116"/>
          <p:cNvSpPr txBox="1"/>
          <p:nvPr/>
        </p:nvSpPr>
        <p:spPr>
          <a:xfrm>
            <a:off x="2443500" y="2155638"/>
            <a:ext cx="42570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Omar Lizardo</a:t>
            </a:r>
            <a:endParaRPr/>
          </a:p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University of California, Los Angeles</a:t>
            </a:r>
            <a:endParaRPr i="1"/>
          </a:p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olizardo@soc.ucla.edu</a:t>
            </a:r>
            <a:r>
              <a:rPr lang="en"/>
              <a:t> </a:t>
            </a:r>
            <a:endParaRPr/>
          </a:p>
        </p:txBody>
      </p:sp>
      <p:sp>
        <p:nvSpPr>
          <p:cNvPr id="117" name="Shape 117"/>
          <p:cNvSpPr txBox="1"/>
          <p:nvPr/>
        </p:nvSpPr>
        <p:spPr>
          <a:xfrm>
            <a:off x="2893225" y="3436800"/>
            <a:ext cx="56598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Mitchell Centre for Social Network Analysis Seminar Series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University of Manchester, Department of Sociology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June 13th 2018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social ties</a:t>
            </a:r>
            <a:endParaRPr/>
          </a:p>
        </p:txBody>
      </p:sp>
      <p:sp>
        <p:nvSpPr>
          <p:cNvPr id="123" name="Shape 12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Dyadic </a:t>
            </a:r>
            <a:r>
              <a:rPr b="1" lang="en"/>
              <a:t>ties</a:t>
            </a:r>
            <a:r>
              <a:rPr lang="en"/>
              <a:t> (edges, links) are the building blocks of networks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social network theories are built on properties of ties (Kitts 2014)</a:t>
            </a:r>
            <a:endParaRPr/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different ways can two people be connected?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Two people can be </a:t>
            </a:r>
            <a:r>
              <a:rPr lang="en"/>
              <a:t>connected</a:t>
            </a:r>
            <a:r>
              <a:rPr lang="en"/>
              <a:t> by </a:t>
            </a:r>
            <a:r>
              <a:rPr b="1" lang="en"/>
              <a:t>one-way (asymmetric) tie</a:t>
            </a:r>
            <a:r>
              <a:rPr lang="en"/>
              <a:t> or </a:t>
            </a:r>
            <a:r>
              <a:rPr b="1" lang="en"/>
              <a:t>two-way (non-symmetric) ties</a:t>
            </a:r>
            <a:endParaRPr b="1"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 links are thought of as conduits via which some things “flow” then people can be connected by </a:t>
            </a:r>
            <a:r>
              <a:rPr b="1" lang="en"/>
              <a:t>one-way flow links</a:t>
            </a:r>
            <a:r>
              <a:rPr lang="en"/>
              <a:t> (non-reciprocal) or </a:t>
            </a:r>
            <a:r>
              <a:rPr b="1" lang="en"/>
              <a:t>two-way flow ties</a:t>
            </a:r>
            <a:r>
              <a:rPr lang="en"/>
              <a:t> (reciprocal)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can be connected via </a:t>
            </a:r>
            <a:r>
              <a:rPr b="1" lang="en"/>
              <a:t>more than one type </a:t>
            </a:r>
            <a:r>
              <a:rPr lang="en"/>
              <a:t>of tie (multiplexity) or a </a:t>
            </a:r>
            <a:r>
              <a:rPr b="1" lang="en"/>
              <a:t>single</a:t>
            </a:r>
            <a:r>
              <a:rPr lang="en"/>
              <a:t> </a:t>
            </a:r>
            <a:r>
              <a:rPr b="1" lang="en"/>
              <a:t>type </a:t>
            </a:r>
            <a:r>
              <a:rPr lang="en"/>
              <a:t>of tie (uniplexitiy) 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can be connected via </a:t>
            </a:r>
            <a:r>
              <a:rPr b="1" lang="en"/>
              <a:t>fleeting, emotionally distant (weak) ties</a:t>
            </a:r>
            <a:r>
              <a:rPr lang="en"/>
              <a:t> or via </a:t>
            </a:r>
            <a:r>
              <a:rPr b="1" lang="en"/>
              <a:t>durable, sturdy, emotionally close, frequently  activated, hard to break (strong) ties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many types of social ties are there?</a:t>
            </a:r>
            <a:endParaRPr/>
          </a:p>
        </p:txBody>
      </p:sp>
      <p:pic>
        <p:nvPicPr>
          <p:cNvPr descr="Screenshot 2017-08-22 at 09.35.16.png" id="129" name="Shape 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9625"/>
            <a:ext cx="8839202" cy="271166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Shape 130"/>
          <p:cNvSpPr txBox="1"/>
          <p:nvPr/>
        </p:nvSpPr>
        <p:spPr>
          <a:xfrm>
            <a:off x="599350" y="4293525"/>
            <a:ext cx="8053200" cy="7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Borgatti, S. P., Mehra, A., Brass, D. J., &amp; Labianca, G. (2009). Network analysis in the social sciences. </a:t>
            </a:r>
            <a:r>
              <a:rPr i="1" lang="en"/>
              <a:t>Science</a:t>
            </a:r>
            <a:r>
              <a:rPr lang="en"/>
              <a:t>, 323(5916), 892-895.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many types of social ties are there?</a:t>
            </a:r>
            <a:endParaRPr/>
          </a:p>
        </p:txBody>
      </p:sp>
      <p:sp>
        <p:nvSpPr>
          <p:cNvPr id="136" name="Shape 136"/>
          <p:cNvSpPr txBox="1"/>
          <p:nvPr>
            <p:ph idx="1" type="body"/>
          </p:nvPr>
        </p:nvSpPr>
        <p:spPr>
          <a:xfrm>
            <a:off x="311700" y="1225225"/>
            <a:ext cx="85206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Role relations (states)</a:t>
            </a:r>
            <a:endParaRPr b="1"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Friends, kin, business partners</a:t>
            </a:r>
            <a:endParaRPr/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Interpersonal sentiments and cognitions</a:t>
            </a:r>
            <a:endParaRPr b="1"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Liking, trusting, acquaintanceship</a:t>
            </a:r>
            <a:endParaRPr/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Behavioral Social Interactions</a:t>
            </a:r>
            <a:endParaRPr b="1"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Calling, texting, citing, supporting, resource exchange</a:t>
            </a:r>
            <a:endParaRPr/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Opportunity structure for exchange</a:t>
            </a:r>
            <a:endParaRPr b="1"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holes, brokerage, intermediation</a:t>
            </a:r>
            <a:endParaRPr/>
          </a:p>
          <a:p>
            <a: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“Non-ties” matter here</a:t>
            </a:r>
            <a:endParaRPr/>
          </a:p>
        </p:txBody>
      </p:sp>
      <p:sp>
        <p:nvSpPr>
          <p:cNvPr id="137" name="Shape 137"/>
          <p:cNvSpPr txBox="1"/>
          <p:nvPr/>
        </p:nvSpPr>
        <p:spPr>
          <a:xfrm>
            <a:off x="392300" y="4016425"/>
            <a:ext cx="79332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Kitts, J. A. (2014). Beyond networks in structural theories of exchange: Promises from computational social science. In </a:t>
            </a:r>
            <a:r>
              <a:rPr i="1" lang="en"/>
              <a:t>Advances in Group Processes</a:t>
            </a:r>
            <a:r>
              <a:rPr lang="en"/>
              <a:t> (pp. 263-298).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 (combined)</a:t>
            </a:r>
            <a:endParaRPr/>
          </a:p>
        </p:txBody>
      </p:sp>
      <p:sp>
        <p:nvSpPr>
          <p:cNvPr id="143" name="Shape 143"/>
          <p:cNvSpPr/>
          <p:nvPr/>
        </p:nvSpPr>
        <p:spPr>
          <a:xfrm>
            <a:off x="78825" y="4379663"/>
            <a:ext cx="1662300" cy="436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Similarities</a:t>
            </a:r>
            <a:endParaRPr sz="1100"/>
          </a:p>
        </p:txBody>
      </p:sp>
      <p:sp>
        <p:nvSpPr>
          <p:cNvPr id="144" name="Shape 144"/>
          <p:cNvSpPr/>
          <p:nvPr/>
        </p:nvSpPr>
        <p:spPr>
          <a:xfrm>
            <a:off x="1915453" y="4379650"/>
            <a:ext cx="1662300" cy="436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Role Relations</a:t>
            </a:r>
            <a:endParaRPr sz="1100"/>
          </a:p>
        </p:txBody>
      </p:sp>
      <p:sp>
        <p:nvSpPr>
          <p:cNvPr id="145" name="Shape 145"/>
          <p:cNvSpPr/>
          <p:nvPr/>
        </p:nvSpPr>
        <p:spPr>
          <a:xfrm>
            <a:off x="3752065" y="4379663"/>
            <a:ext cx="1662300" cy="436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Sentiments</a:t>
            </a:r>
            <a:endParaRPr sz="1100"/>
          </a:p>
        </p:txBody>
      </p:sp>
      <p:sp>
        <p:nvSpPr>
          <p:cNvPr id="146" name="Shape 146"/>
          <p:cNvSpPr/>
          <p:nvPr/>
        </p:nvSpPr>
        <p:spPr>
          <a:xfrm>
            <a:off x="5588664" y="4379663"/>
            <a:ext cx="1662300" cy="436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Communication</a:t>
            </a:r>
            <a:endParaRPr sz="1100"/>
          </a:p>
        </p:txBody>
      </p:sp>
      <p:sp>
        <p:nvSpPr>
          <p:cNvPr id="147" name="Shape 147"/>
          <p:cNvSpPr/>
          <p:nvPr/>
        </p:nvSpPr>
        <p:spPr>
          <a:xfrm>
            <a:off x="7425276" y="4379663"/>
            <a:ext cx="1662300" cy="436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Exchanges</a:t>
            </a:r>
            <a:endParaRPr sz="1100"/>
          </a:p>
        </p:txBody>
      </p:sp>
      <p:sp>
        <p:nvSpPr>
          <p:cNvPr id="148" name="Shape 148"/>
          <p:cNvSpPr/>
          <p:nvPr/>
        </p:nvSpPr>
        <p:spPr>
          <a:xfrm>
            <a:off x="2553363" y="2303875"/>
            <a:ext cx="2205900" cy="29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Relationships</a:t>
            </a:r>
            <a:endParaRPr/>
          </a:p>
        </p:txBody>
      </p:sp>
      <p:sp>
        <p:nvSpPr>
          <p:cNvPr id="149" name="Shape 149"/>
          <p:cNvSpPr/>
          <p:nvPr/>
        </p:nvSpPr>
        <p:spPr>
          <a:xfrm>
            <a:off x="6138963" y="2303875"/>
            <a:ext cx="2205900" cy="29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Interactions</a:t>
            </a:r>
            <a:endParaRPr/>
          </a:p>
        </p:txBody>
      </p:sp>
      <p:cxnSp>
        <p:nvCxnSpPr>
          <p:cNvPr id="150" name="Shape 150"/>
          <p:cNvCxnSpPr>
            <a:stCxn id="148" idx="2"/>
            <a:endCxn id="144" idx="0"/>
          </p:cNvCxnSpPr>
          <p:nvPr/>
        </p:nvCxnSpPr>
        <p:spPr>
          <a:xfrm flipH="1">
            <a:off x="2746713" y="2598175"/>
            <a:ext cx="909600" cy="178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Shape 151"/>
          <p:cNvCxnSpPr>
            <a:stCxn id="148" idx="2"/>
            <a:endCxn id="145" idx="0"/>
          </p:cNvCxnSpPr>
          <p:nvPr/>
        </p:nvCxnSpPr>
        <p:spPr>
          <a:xfrm>
            <a:off x="3656313" y="2598175"/>
            <a:ext cx="927000" cy="178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Shape 152"/>
          <p:cNvCxnSpPr>
            <a:stCxn id="149" idx="2"/>
            <a:endCxn id="146" idx="0"/>
          </p:cNvCxnSpPr>
          <p:nvPr/>
        </p:nvCxnSpPr>
        <p:spPr>
          <a:xfrm flipH="1">
            <a:off x="6419913" y="2598175"/>
            <a:ext cx="822000" cy="178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Shape 153"/>
          <p:cNvCxnSpPr>
            <a:stCxn id="149" idx="2"/>
            <a:endCxn id="147" idx="0"/>
          </p:cNvCxnSpPr>
          <p:nvPr/>
        </p:nvCxnSpPr>
        <p:spPr>
          <a:xfrm>
            <a:off x="7241913" y="2598175"/>
            <a:ext cx="1014600" cy="178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" name="Shape 154"/>
          <p:cNvSpPr/>
          <p:nvPr/>
        </p:nvSpPr>
        <p:spPr>
          <a:xfrm>
            <a:off x="4334375" y="1255663"/>
            <a:ext cx="2205900" cy="436800"/>
          </a:xfrm>
          <a:prstGeom prst="diamond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Ties</a:t>
            </a:r>
            <a:endParaRPr/>
          </a:p>
        </p:txBody>
      </p:sp>
      <p:cxnSp>
        <p:nvCxnSpPr>
          <p:cNvPr id="155" name="Shape 155"/>
          <p:cNvCxnSpPr>
            <a:stCxn id="154" idx="1"/>
            <a:endCxn id="143" idx="0"/>
          </p:cNvCxnSpPr>
          <p:nvPr/>
        </p:nvCxnSpPr>
        <p:spPr>
          <a:xfrm flipH="1">
            <a:off x="909875" y="1474063"/>
            <a:ext cx="3424500" cy="2905500"/>
          </a:xfrm>
          <a:prstGeom prst="bent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Shape 156"/>
          <p:cNvCxnSpPr>
            <a:stCxn id="154" idx="2"/>
            <a:endCxn id="148" idx="0"/>
          </p:cNvCxnSpPr>
          <p:nvPr/>
        </p:nvCxnSpPr>
        <p:spPr>
          <a:xfrm flipH="1">
            <a:off x="3656225" y="1692463"/>
            <a:ext cx="1781100" cy="61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Shape 157"/>
          <p:cNvCxnSpPr>
            <a:stCxn id="154" idx="2"/>
            <a:endCxn id="149" idx="0"/>
          </p:cNvCxnSpPr>
          <p:nvPr/>
        </p:nvCxnSpPr>
        <p:spPr>
          <a:xfrm>
            <a:off x="5437325" y="1692463"/>
            <a:ext cx="1804500" cy="61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properties: Strength</a:t>
            </a:r>
            <a:endParaRPr/>
          </a:p>
        </p:txBody>
      </p:sp>
      <p:sp>
        <p:nvSpPr>
          <p:cNvPr id="163" name="Shape 16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 strength is defined as a </a:t>
            </a:r>
            <a:r>
              <a:rPr b="1" lang="en"/>
              <a:t>combination</a:t>
            </a:r>
            <a:r>
              <a:rPr lang="en"/>
              <a:t> of multiple tie properties: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Duration 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Time spent together (</a:t>
            </a:r>
            <a:r>
              <a:rPr b="1" lang="en"/>
              <a:t>Similarities</a:t>
            </a:r>
            <a:r>
              <a:rPr lang="en"/>
              <a:t>)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Emotional intensity (</a:t>
            </a:r>
            <a:r>
              <a:rPr b="1" lang="en"/>
              <a:t>Sentiment</a:t>
            </a:r>
            <a:r>
              <a:rPr lang="en"/>
              <a:t>)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Intimacy and confiding  (</a:t>
            </a:r>
            <a:r>
              <a:rPr b="1" lang="en"/>
              <a:t>Exchanges</a:t>
            </a:r>
            <a:r>
              <a:rPr lang="en"/>
              <a:t>)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Frequency of interaction (</a:t>
            </a:r>
            <a:r>
              <a:rPr b="1" lang="en"/>
              <a:t>Communication</a:t>
            </a:r>
            <a:r>
              <a:rPr lang="en"/>
              <a:t>)</a:t>
            </a:r>
            <a:endParaRPr/>
          </a:p>
          <a:p>
            <a: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MIxes together frequency, sentiment, communication, and exchange criteria</a:t>
            </a:r>
            <a:endParaRPr/>
          </a:p>
          <a:p>
            <a: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KItts (2014)</a:t>
            </a:r>
            <a:endParaRPr/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Which ones are the best indicators of tie strength empirically?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i="1" lang="en"/>
              <a:t>“The strength of a tie is a (probably linear) combination of the amount of time, the emotional intensity, the intimacy (mutual confiding) and the reciprocal services which characterize the tie”</a:t>
            </a:r>
            <a:r>
              <a:rPr lang="en"/>
              <a:t> (Granovetter 1973:  1361)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measure tie strength?</a:t>
            </a:r>
            <a:endParaRPr/>
          </a:p>
        </p:txBody>
      </p:sp>
      <p:sp>
        <p:nvSpPr>
          <p:cNvPr id="169" name="Shape 16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Problems with attempts at measuring tie strength: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mix together </a:t>
            </a:r>
            <a:r>
              <a:rPr b="1" lang="en"/>
              <a:t>role-relation</a:t>
            </a:r>
            <a:r>
              <a:rPr lang="en"/>
              <a:t> and </a:t>
            </a:r>
            <a:r>
              <a:rPr b="1" lang="en"/>
              <a:t>sentiment</a:t>
            </a:r>
            <a:r>
              <a:rPr lang="en"/>
              <a:t> criteria</a:t>
            </a:r>
            <a:endParaRPr/>
          </a:p>
          <a:p>
            <a: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“</a:t>
            </a:r>
            <a:r>
              <a:rPr b="1" lang="en"/>
              <a:t>Close</a:t>
            </a:r>
            <a:r>
              <a:rPr lang="en"/>
              <a:t> </a:t>
            </a:r>
            <a:r>
              <a:rPr b="1" lang="en"/>
              <a:t>Friends</a:t>
            </a:r>
            <a:r>
              <a:rPr lang="en"/>
              <a:t>”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(even worse) </a:t>
            </a:r>
            <a:r>
              <a:rPr i="1" lang="en"/>
              <a:t>use</a:t>
            </a:r>
            <a:r>
              <a:rPr lang="en"/>
              <a:t> role-relations criteria to define tie strength</a:t>
            </a:r>
            <a:endParaRPr/>
          </a:p>
          <a:p>
            <a: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E.g. Kin and Friends are strong ties, acquaintances, co-workers, and neighbors are weak ties</a:t>
            </a:r>
            <a:endParaRPr b="1"/>
          </a:p>
          <a:p>
            <a: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i="1" lang="en">
                <a:solidFill>
                  <a:srgbClr val="FF0000"/>
                </a:solidFill>
              </a:rPr>
              <a:t>Problem: You can be weakly connected some relatives and strongly connected to some co-workers</a:t>
            </a:r>
            <a:endParaRPr i="1">
              <a:solidFill>
                <a:srgbClr val="FF0000"/>
              </a:solidFill>
            </a:endParaRPr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Others use purely frequency based criteria (</a:t>
            </a:r>
            <a:r>
              <a:rPr b="1" lang="en"/>
              <a:t>who you hang out with most often</a:t>
            </a:r>
            <a:r>
              <a:rPr lang="en"/>
              <a:t>)</a:t>
            </a:r>
            <a:endParaRPr/>
          </a:p>
          <a:p>
            <a: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i="1" lang="en">
                <a:solidFill>
                  <a:srgbClr val="FF0000"/>
                </a:solidFill>
              </a:rPr>
              <a:t>Problem: You can be weakly connected to people you see frequently </a:t>
            </a:r>
            <a:endParaRPr i="1">
              <a:solidFill>
                <a:srgbClr val="FF0000"/>
              </a:solidFill>
            </a:endParaRPr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Others use the number of kinds of relations connecting people</a:t>
            </a:r>
            <a:endParaRPr/>
          </a:p>
          <a:p>
            <a: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“Multiplex” ties are strong</a:t>
            </a:r>
            <a:endParaRPr b="1"/>
          </a:p>
          <a:p>
            <a: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i="1" lang="en">
                <a:solidFill>
                  <a:srgbClr val="FF0000"/>
                </a:solidFill>
              </a:rPr>
              <a:t>Problem: some multiplex relations can be weak</a:t>
            </a:r>
            <a:endParaRPr i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measure tie strength?</a:t>
            </a:r>
            <a:endParaRPr/>
          </a:p>
        </p:txBody>
      </p:sp>
      <p:sp>
        <p:nvSpPr>
          <p:cNvPr id="175" name="Shape 175"/>
          <p:cNvSpPr txBox="1"/>
          <p:nvPr>
            <p:ph idx="1" type="body"/>
          </p:nvPr>
        </p:nvSpPr>
        <p:spPr>
          <a:xfrm>
            <a:off x="311700" y="1225225"/>
            <a:ext cx="5691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 approaches: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i="1" lang="en"/>
              <a:t>Duration of the relationship?</a:t>
            </a:r>
            <a:endParaRPr i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Provision and exchange of services and support?</a:t>
            </a:r>
            <a:endParaRPr i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Socio-demographic similarity?</a:t>
            </a:r>
            <a:endParaRPr i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Overlap in common memberships?</a:t>
            </a:r>
            <a:endParaRPr i="1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</a:t>
            </a:r>
            <a:r>
              <a:rPr lang="en"/>
              <a:t>e can imagine having strong and weak ties within each of these categories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Need to compare multiple indicators against suitable criteria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tie-strength-analysis-4-638.jpg" id="176" name="Shape 176"/>
          <p:cNvPicPr preferRelativeResize="0"/>
          <p:nvPr/>
        </p:nvPicPr>
        <p:blipFill rotWithShape="1">
          <a:blip r:embed="rId3">
            <a:alphaModFix/>
          </a:blip>
          <a:srcRect b="15785" l="58125" r="0" t="16550"/>
          <a:stretch/>
        </p:blipFill>
        <p:spPr>
          <a:xfrm>
            <a:off x="6003500" y="1186225"/>
            <a:ext cx="2828790" cy="34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Marsden and Campbell’s model</a:t>
            </a:r>
            <a:endParaRPr/>
          </a:p>
        </p:txBody>
      </p:sp>
      <p:sp>
        <p:nvSpPr>
          <p:cNvPr id="182" name="Shape 182"/>
          <p:cNvSpPr txBox="1"/>
          <p:nvPr>
            <p:ph idx="1" type="body"/>
          </p:nvPr>
        </p:nvSpPr>
        <p:spPr>
          <a:xfrm>
            <a:off x="311700" y="1225225"/>
            <a:ext cx="5009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Distinguish between </a:t>
            </a:r>
            <a:r>
              <a:rPr b="1" lang="en"/>
              <a:t>indicators</a:t>
            </a:r>
            <a:r>
              <a:rPr lang="en"/>
              <a:t> of tie strength and </a:t>
            </a:r>
            <a:r>
              <a:rPr b="1" lang="en"/>
              <a:t>predictors</a:t>
            </a:r>
            <a:r>
              <a:rPr lang="en"/>
              <a:t> of tie strength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/>
              <a:t>Indicators: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Closeness/Intimacy (Sentiments)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Frequency (Interaction)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Duration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Exchange/Support (Exchange)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Predictors: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Role relations (Friend, Co-worker)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Common memberships and Social Position (Similarities)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Shape 183"/>
          <p:cNvSpPr/>
          <p:nvPr/>
        </p:nvSpPr>
        <p:spPr>
          <a:xfrm>
            <a:off x="6468675" y="2758175"/>
            <a:ext cx="1430700" cy="65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Strength</a:t>
            </a:r>
            <a:endParaRPr/>
          </a:p>
        </p:txBody>
      </p:sp>
      <p:sp>
        <p:nvSpPr>
          <p:cNvPr id="184" name="Shape 184"/>
          <p:cNvSpPr/>
          <p:nvPr/>
        </p:nvSpPr>
        <p:spPr>
          <a:xfrm>
            <a:off x="5558250" y="4062075"/>
            <a:ext cx="919200" cy="32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Sentiment</a:t>
            </a:r>
            <a:endParaRPr sz="1200"/>
          </a:p>
        </p:txBody>
      </p:sp>
      <p:sp>
        <p:nvSpPr>
          <p:cNvPr id="185" name="Shape 185"/>
          <p:cNvSpPr/>
          <p:nvPr/>
        </p:nvSpPr>
        <p:spPr>
          <a:xfrm>
            <a:off x="6724427" y="4062082"/>
            <a:ext cx="919200" cy="32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Interaction</a:t>
            </a:r>
            <a:endParaRPr sz="1200"/>
          </a:p>
        </p:txBody>
      </p:sp>
      <p:sp>
        <p:nvSpPr>
          <p:cNvPr id="186" name="Shape 186"/>
          <p:cNvSpPr/>
          <p:nvPr/>
        </p:nvSpPr>
        <p:spPr>
          <a:xfrm>
            <a:off x="7783227" y="4062082"/>
            <a:ext cx="919200" cy="32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Exchange</a:t>
            </a:r>
            <a:endParaRPr sz="1200"/>
          </a:p>
        </p:txBody>
      </p:sp>
      <p:cxnSp>
        <p:nvCxnSpPr>
          <p:cNvPr id="187" name="Shape 187"/>
          <p:cNvCxnSpPr>
            <a:stCxn id="183" idx="4"/>
            <a:endCxn id="184" idx="0"/>
          </p:cNvCxnSpPr>
          <p:nvPr/>
        </p:nvCxnSpPr>
        <p:spPr>
          <a:xfrm flipH="1">
            <a:off x="6017925" y="3411275"/>
            <a:ext cx="1166100" cy="65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Shape 188"/>
          <p:cNvCxnSpPr>
            <a:stCxn id="183" idx="4"/>
            <a:endCxn id="185" idx="0"/>
          </p:cNvCxnSpPr>
          <p:nvPr/>
        </p:nvCxnSpPr>
        <p:spPr>
          <a:xfrm>
            <a:off x="7184025" y="3411275"/>
            <a:ext cx="0" cy="65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Shape 189"/>
          <p:cNvCxnSpPr>
            <a:stCxn id="183" idx="4"/>
            <a:endCxn id="186" idx="0"/>
          </p:cNvCxnSpPr>
          <p:nvPr/>
        </p:nvCxnSpPr>
        <p:spPr>
          <a:xfrm>
            <a:off x="7184025" y="3411275"/>
            <a:ext cx="1058700" cy="65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" name="Shape 190"/>
          <p:cNvSpPr/>
          <p:nvPr/>
        </p:nvSpPr>
        <p:spPr>
          <a:xfrm>
            <a:off x="7383350" y="1539475"/>
            <a:ext cx="1518000" cy="56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Similarities</a:t>
            </a:r>
            <a:endParaRPr/>
          </a:p>
        </p:txBody>
      </p:sp>
      <p:sp>
        <p:nvSpPr>
          <p:cNvPr id="191" name="Shape 191"/>
          <p:cNvSpPr/>
          <p:nvPr/>
        </p:nvSpPr>
        <p:spPr>
          <a:xfrm>
            <a:off x="5528438" y="1539475"/>
            <a:ext cx="1518000" cy="56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Relations</a:t>
            </a:r>
            <a:endParaRPr/>
          </a:p>
        </p:txBody>
      </p:sp>
      <p:cxnSp>
        <p:nvCxnSpPr>
          <p:cNvPr id="192" name="Shape 192"/>
          <p:cNvCxnSpPr>
            <a:stCxn id="191" idx="2"/>
            <a:endCxn id="183" idx="0"/>
          </p:cNvCxnSpPr>
          <p:nvPr/>
        </p:nvCxnSpPr>
        <p:spPr>
          <a:xfrm>
            <a:off x="6287438" y="2107375"/>
            <a:ext cx="896700" cy="65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Shape 193"/>
          <p:cNvCxnSpPr>
            <a:stCxn id="190" idx="2"/>
            <a:endCxn id="183" idx="0"/>
          </p:cNvCxnSpPr>
          <p:nvPr/>
        </p:nvCxnSpPr>
        <p:spPr>
          <a:xfrm flipH="1">
            <a:off x="7184150" y="2107375"/>
            <a:ext cx="958200" cy="65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4" name="Shape 194"/>
          <p:cNvSpPr txBox="1"/>
          <p:nvPr/>
        </p:nvSpPr>
        <p:spPr>
          <a:xfrm>
            <a:off x="6546525" y="4511450"/>
            <a:ext cx="127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Indicators</a:t>
            </a:r>
            <a:endParaRPr/>
          </a:p>
        </p:txBody>
      </p:sp>
      <p:sp>
        <p:nvSpPr>
          <p:cNvPr id="195" name="Shape 195"/>
          <p:cNvSpPr txBox="1"/>
          <p:nvPr/>
        </p:nvSpPr>
        <p:spPr>
          <a:xfrm>
            <a:off x="6546525" y="1078650"/>
            <a:ext cx="127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Predictors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Moving forward</a:t>
            </a:r>
            <a:endParaRPr/>
          </a:p>
        </p:txBody>
      </p:sp>
      <p:sp>
        <p:nvSpPr>
          <p:cNvPr id="201" name="Shape 201"/>
          <p:cNvSpPr txBox="1"/>
          <p:nvPr>
            <p:ph idx="1" type="body"/>
          </p:nvPr>
        </p:nvSpPr>
        <p:spPr>
          <a:xfrm>
            <a:off x="311700" y="1225225"/>
            <a:ext cx="4870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Ultimately relationship between indicators and predictors of strength an empirical not definitional issue</a:t>
            </a:r>
            <a:endParaRPr/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Same for relationship between different ways of being connected: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Role relations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Interactions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Support/Exchange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Cognitive</a:t>
            </a:r>
            <a:endParaRPr/>
          </a:p>
          <a:p>
            <a: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Affective/Sentiments</a:t>
            </a:r>
            <a:endParaRPr/>
          </a:p>
        </p:txBody>
      </p:sp>
      <p:pic>
        <p:nvPicPr>
          <p:cNvPr id="202" name="Shape 2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6200" y="1610950"/>
            <a:ext cx="3656700" cy="2582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Questions</a:t>
            </a:r>
            <a:endParaRPr/>
          </a:p>
        </p:txBody>
      </p:sp>
      <p:sp>
        <p:nvSpPr>
          <p:cNvPr id="208" name="Shape 208"/>
          <p:cNvSpPr txBox="1"/>
          <p:nvPr>
            <p:ph idx="1" type="body"/>
          </p:nvPr>
        </p:nvSpPr>
        <p:spPr>
          <a:xfrm>
            <a:off x="311700" y="1225225"/>
            <a:ext cx="5104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Association</a:t>
            </a:r>
            <a:r>
              <a:rPr lang="en"/>
              <a:t> among the various measures of tie strength</a:t>
            </a:r>
            <a:endParaRPr/>
          </a:p>
          <a:p>
            <a: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Affective (closeness), frequency, duration, cognitive (salience)</a:t>
            </a:r>
            <a:endParaRPr/>
          </a:p>
          <a:p>
            <a:pPr indent="-342900" lvl="0" marL="457200" rtl="0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Association between strength and role relations</a:t>
            </a:r>
            <a:endParaRPr/>
          </a:p>
          <a:p>
            <a: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 role relations have specifiable tie strength profiles?</a:t>
            </a:r>
            <a:endParaRPr/>
          </a:p>
          <a:p>
            <a:pPr indent="-342900" lvl="0" marL="457200" rtl="0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Role type, strength and exchanges</a:t>
            </a:r>
            <a:endParaRPr/>
          </a:p>
          <a:p>
            <a: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Does support come from strong ties?</a:t>
            </a:r>
            <a:endParaRPr/>
          </a:p>
          <a:p>
            <a: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 role relations have specifiable support profiles?</a:t>
            </a:r>
            <a:endParaRPr/>
          </a:p>
          <a:p>
            <a:pPr indent="0" lvl="0" marL="0" rtl="0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  <p:pic>
        <p:nvPicPr>
          <p:cNvPr id="209" name="Shape 2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1178" y="1267101"/>
            <a:ext cx="3361121" cy="3270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NetHealth Study</a:t>
            </a:r>
            <a:endParaRPr/>
          </a:p>
        </p:txBody>
      </p:sp>
      <p:sp>
        <p:nvSpPr>
          <p:cNvPr id="215" name="Shape 215"/>
          <p:cNvSpPr txBox="1"/>
          <p:nvPr>
            <p:ph idx="1" type="body"/>
          </p:nvPr>
        </p:nvSpPr>
        <p:spPr>
          <a:xfrm>
            <a:off x="311700" y="1225225"/>
            <a:ext cx="3419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2-year NIH funded longitudinal study of ～700 first-year students who entered the University of Notre Dame in the Fall of 2015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  <p:grpSp>
        <p:nvGrpSpPr>
          <p:cNvPr id="216" name="Shape 216"/>
          <p:cNvGrpSpPr/>
          <p:nvPr/>
        </p:nvGrpSpPr>
        <p:grpSpPr>
          <a:xfrm>
            <a:off x="3731325" y="777025"/>
            <a:ext cx="5100974" cy="4198651"/>
            <a:chOff x="3731325" y="777025"/>
            <a:chExt cx="5100974" cy="4198651"/>
          </a:xfrm>
        </p:grpSpPr>
        <p:pic>
          <p:nvPicPr>
            <p:cNvPr id="217" name="Shape 217"/>
            <p:cNvPicPr preferRelativeResize="0"/>
            <p:nvPr/>
          </p:nvPicPr>
          <p:blipFill rotWithShape="1">
            <a:blip r:embed="rId3">
              <a:alphaModFix/>
            </a:blip>
            <a:srcRect b="9132" l="18540" r="18288" t="8298"/>
            <a:stretch/>
          </p:blipFill>
          <p:spPr>
            <a:xfrm>
              <a:off x="3731325" y="1225225"/>
              <a:ext cx="5100974" cy="3750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" name="Shape 218"/>
            <p:cNvSpPr txBox="1"/>
            <p:nvPr/>
          </p:nvSpPr>
          <p:spPr>
            <a:xfrm>
              <a:off x="4763550" y="777025"/>
              <a:ext cx="3828300" cy="37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Times New Roman"/>
                  <a:ea typeface="Times New Roman"/>
                  <a:cs typeface="Times New Roman"/>
                  <a:sym typeface="Times New Roman"/>
                </a:rPr>
                <a:t>Nethealth merged ego-networks, Aug 2015 - Dec 2017</a:t>
              </a:r>
              <a:endParaRPr b="1"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2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NetHealth Study</a:t>
            </a:r>
            <a:endParaRPr/>
          </a:p>
        </p:txBody>
      </p:sp>
      <p:sp>
        <p:nvSpPr>
          <p:cNvPr id="224" name="Shape 224"/>
          <p:cNvSpPr txBox="1"/>
          <p:nvPr>
            <p:ph idx="1" type="body"/>
          </p:nvPr>
        </p:nvSpPr>
        <p:spPr>
          <a:xfrm>
            <a:off x="311700" y="1225225"/>
            <a:ext cx="3419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 Tiers of Students</a:t>
            </a:r>
            <a:endParaRPr/>
          </a:p>
          <a:p>
            <a: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Tier 1 -  400 students recruited in Summer 2015</a:t>
            </a:r>
            <a:endParaRPr/>
          </a:p>
          <a:p>
            <a: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Tier 2 - 100 students referred by Tier 1 students, Fall 2015</a:t>
            </a:r>
            <a:endParaRPr/>
          </a:p>
          <a:p>
            <a: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Tier 3 - 300 students recruited Winter 2015 (second semester)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  <p:grpSp>
        <p:nvGrpSpPr>
          <p:cNvPr id="225" name="Shape 225"/>
          <p:cNvGrpSpPr/>
          <p:nvPr/>
        </p:nvGrpSpPr>
        <p:grpSpPr>
          <a:xfrm>
            <a:off x="3731325" y="777025"/>
            <a:ext cx="5100974" cy="4198651"/>
            <a:chOff x="3731325" y="777025"/>
            <a:chExt cx="5100974" cy="4198651"/>
          </a:xfrm>
        </p:grpSpPr>
        <p:pic>
          <p:nvPicPr>
            <p:cNvPr id="226" name="Shape 226"/>
            <p:cNvPicPr preferRelativeResize="0"/>
            <p:nvPr/>
          </p:nvPicPr>
          <p:blipFill rotWithShape="1">
            <a:blip r:embed="rId3">
              <a:alphaModFix/>
            </a:blip>
            <a:srcRect b="9132" l="18540" r="18288" t="8298"/>
            <a:stretch/>
          </p:blipFill>
          <p:spPr>
            <a:xfrm>
              <a:off x="3731325" y="1225225"/>
              <a:ext cx="5100974" cy="3750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Shape 227"/>
            <p:cNvSpPr txBox="1"/>
            <p:nvPr/>
          </p:nvSpPr>
          <p:spPr>
            <a:xfrm>
              <a:off x="4763550" y="777025"/>
              <a:ext cx="3828300" cy="37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Times New Roman"/>
                  <a:ea typeface="Times New Roman"/>
                  <a:cs typeface="Times New Roman"/>
                  <a:sym typeface="Times New Roman"/>
                </a:rPr>
                <a:t>Nethealth merged ego-networks, Aug 2015 - Dec 2017</a:t>
              </a:r>
              <a:endParaRPr b="1"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NetHealth Ego Network Data</a:t>
            </a:r>
            <a:endParaRPr/>
          </a:p>
        </p:txBody>
      </p:sp>
      <p:sp>
        <p:nvSpPr>
          <p:cNvPr id="233" name="Shape 233"/>
          <p:cNvSpPr txBox="1"/>
          <p:nvPr>
            <p:ph idx="1" type="body"/>
          </p:nvPr>
        </p:nvSpPr>
        <p:spPr>
          <a:xfrm>
            <a:off x="311700" y="1225225"/>
            <a:ext cx="8520600" cy="11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8 surveys issued between August 2015 and May 2018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Tracked as 7 survey waves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Plus the separate initial survey issued to Tier 2 and 3 participants at the culmination of the Tier 3 recruiting period in Spring 2016.</a:t>
            </a:r>
            <a:endParaRPr/>
          </a:p>
        </p:txBody>
      </p:sp>
      <p:graphicFrame>
        <p:nvGraphicFramePr>
          <p:cNvPr id="234" name="Shape 234"/>
          <p:cNvGraphicFramePr/>
          <p:nvPr/>
        </p:nvGraphicFramePr>
        <p:xfrm>
          <a:off x="311688" y="2668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{D60508DA-2E81-48BC-83BB-80EE93AA0328}</a:tableStyleId>
              </a:tblPr>
              <a:tblGrid>
                <a:gridCol w="1090425"/>
                <a:gridCol w="928775"/>
                <a:gridCol w="928775"/>
                <a:gridCol w="928775"/>
                <a:gridCol w="928775"/>
                <a:gridCol w="928775"/>
                <a:gridCol w="928775"/>
                <a:gridCol w="928775"/>
                <a:gridCol w="928775"/>
              </a:tblGrid>
              <a:tr h="4889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Wave 1</a:t>
                      </a:r>
                      <a:endParaRPr b="1"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Wave 2</a:t>
                      </a:r>
                      <a:endParaRPr b="1"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Tier 3</a:t>
                      </a:r>
                      <a:endParaRPr b="1"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Wave 3</a:t>
                      </a:r>
                      <a:endParaRPr b="1"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Wave 4</a:t>
                      </a:r>
                      <a:endParaRPr b="1"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Wave 5</a:t>
                      </a:r>
                      <a:endParaRPr b="1"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Wave 6</a:t>
                      </a:r>
                      <a:endParaRPr b="1"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Wave 7</a:t>
                      </a:r>
                      <a:endParaRPr b="1"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9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/>
                        <a:t>Earliest Response</a:t>
                      </a:r>
                      <a:endParaRPr i="1" sz="1200"/>
                    </a:p>
                  </a:txBody>
                  <a:tcPr marT="63500" marB="63500" marR="63500" marL="63500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03 AUG 2015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 FEB 2016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 MAR 2016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 JUN 2016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01 NOV 2016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 APR 2017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09 NOV 2017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26 APR 2018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9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/>
                        <a:t>Latest Response</a:t>
                      </a:r>
                      <a:endParaRPr i="1" sz="1200"/>
                    </a:p>
                  </a:txBody>
                  <a:tcPr marT="63500" marB="63500" marR="63500" marL="63500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08 NOV 2015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 FEB 2016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13 APR 2016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06 JUL 2016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09 DEC 2016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01 MAY 2017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05 DEC 2017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08 MAY 2018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9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/>
                        <a:t>Participant Tiers</a:t>
                      </a:r>
                      <a:endParaRPr i="1" sz="1200"/>
                    </a:p>
                  </a:txBody>
                  <a:tcPr marT="63500" marB="63500" marR="63500" marL="63500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 &amp; 2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 &amp; 2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 &amp; 3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1, 2, &amp; 3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1, 2, &amp; 3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1, 2, &amp; 3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1, 2, &amp; 3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1, 2, &amp; 3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5" name="Shape 235"/>
          <p:cNvSpPr txBox="1"/>
          <p:nvPr/>
        </p:nvSpPr>
        <p:spPr>
          <a:xfrm>
            <a:off x="2395938" y="2351725"/>
            <a:ext cx="43383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TABLE 1. NETSURVEY WAVES AND DATES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NetHealth Ego Network Data</a:t>
            </a:r>
            <a:endParaRPr/>
          </a:p>
        </p:txBody>
      </p:sp>
      <p:sp>
        <p:nvSpPr>
          <p:cNvPr id="241" name="Shape 241"/>
          <p:cNvSpPr txBox="1"/>
          <p:nvPr>
            <p:ph idx="1" type="body"/>
          </p:nvPr>
        </p:nvSpPr>
        <p:spPr>
          <a:xfrm>
            <a:off x="311700" y="1225225"/>
            <a:ext cx="8520600" cy="11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8 surveys issued between August 2015 and May 2018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Tracked as 7 survey waves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Plus the separate initial survey issued to Tier 2 and 3 participants at the culmination of the Tier 3 recruiting period in Spring 2016.</a:t>
            </a:r>
            <a:endParaRPr/>
          </a:p>
        </p:txBody>
      </p:sp>
      <p:sp>
        <p:nvSpPr>
          <p:cNvPr id="242" name="Shape 242"/>
          <p:cNvSpPr txBox="1"/>
          <p:nvPr/>
        </p:nvSpPr>
        <p:spPr>
          <a:xfrm>
            <a:off x="2395938" y="2351725"/>
            <a:ext cx="43383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TABLE 1. NETSURVEY WAVES AND DATES</a:t>
            </a:r>
            <a:endParaRPr>
              <a:solidFill>
                <a:srgbClr val="434343"/>
              </a:solidFill>
            </a:endParaRPr>
          </a:p>
        </p:txBody>
      </p:sp>
      <p:graphicFrame>
        <p:nvGraphicFramePr>
          <p:cNvPr id="243" name="Shape 243"/>
          <p:cNvGraphicFramePr/>
          <p:nvPr/>
        </p:nvGraphicFramePr>
        <p:xfrm>
          <a:off x="781775" y="2726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{D60508DA-2E81-48BC-83BB-80EE93AA0328}</a:tableStyleId>
              </a:tblPr>
              <a:tblGrid>
                <a:gridCol w="1160250"/>
                <a:gridCol w="802525"/>
                <a:gridCol w="802525"/>
                <a:gridCol w="802525"/>
                <a:gridCol w="802525"/>
                <a:gridCol w="802525"/>
                <a:gridCol w="802525"/>
                <a:gridCol w="802525"/>
                <a:gridCol w="802525"/>
              </a:tblGrid>
              <a:tr h="4889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Wave 1</a:t>
                      </a:r>
                      <a:endParaRPr b="1"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Wave 2</a:t>
                      </a:r>
                      <a:endParaRPr b="1"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Tier 3</a:t>
                      </a:r>
                      <a:endParaRPr b="1"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Wave 3</a:t>
                      </a:r>
                      <a:endParaRPr b="1"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Wave 4</a:t>
                      </a:r>
                      <a:endParaRPr b="1"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Wave 5</a:t>
                      </a:r>
                      <a:endParaRPr b="1"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Wave 6</a:t>
                      </a:r>
                      <a:endParaRPr b="1"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Total</a:t>
                      </a:r>
                      <a:endParaRPr b="1"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9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/>
                        <a:t>Ego-Alter Records</a:t>
                      </a:r>
                      <a:endParaRPr i="1" sz="1200"/>
                    </a:p>
                  </a:txBody>
                  <a:tcPr marT="63500" marB="63500" marR="63500" marL="63500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6,743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5,051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2,986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4,940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4,303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3,899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3,212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31,134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9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/>
                        <a:t>Respondents</a:t>
                      </a:r>
                      <a:endParaRPr i="1" sz="1200"/>
                    </a:p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/>
                        <a:t>(Egos)</a:t>
                      </a:r>
                      <a:endParaRPr i="1"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490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402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212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400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382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351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302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709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9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/>
                        <a:t>Mean Records per Ego</a:t>
                      </a:r>
                      <a:endParaRPr i="1" sz="1200"/>
                    </a:p>
                  </a:txBody>
                  <a:tcPr marT="63500" marB="63500" marR="63500" marL="63500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13.8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12.6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14.0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12.4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11.3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11.1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10.6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43.9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 Surveys</a:t>
            </a:r>
            <a:endParaRPr/>
          </a:p>
        </p:txBody>
      </p:sp>
      <p:sp>
        <p:nvSpPr>
          <p:cNvPr id="249" name="Shape 249"/>
          <p:cNvSpPr txBox="1"/>
          <p:nvPr>
            <p:ph idx="1" type="body"/>
          </p:nvPr>
        </p:nvSpPr>
        <p:spPr>
          <a:xfrm>
            <a:off x="311700" y="1225225"/>
            <a:ext cx="3380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Name generator:</a:t>
            </a:r>
            <a:endParaRPr/>
          </a:p>
          <a:p>
            <a: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We would like to know who you consider to be in your social network. </a:t>
            </a:r>
            <a:endParaRPr b="1"/>
          </a:p>
          <a:p>
            <a: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 the spaces below please list up to 20 people with whom you spend time communicating or interacting.</a:t>
            </a:r>
            <a:endParaRPr b="1"/>
          </a:p>
          <a:p>
            <a: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Kitts (2014)</a:t>
            </a:r>
            <a:endParaRPr/>
          </a:p>
          <a:p>
            <a:pPr indent="0" lvl="0" marL="0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  <p:grpSp>
        <p:nvGrpSpPr>
          <p:cNvPr id="250" name="Shape 250"/>
          <p:cNvGrpSpPr/>
          <p:nvPr/>
        </p:nvGrpSpPr>
        <p:grpSpPr>
          <a:xfrm>
            <a:off x="3731325" y="777025"/>
            <a:ext cx="5100974" cy="4198651"/>
            <a:chOff x="3731325" y="777025"/>
            <a:chExt cx="5100974" cy="4198651"/>
          </a:xfrm>
        </p:grpSpPr>
        <p:pic>
          <p:nvPicPr>
            <p:cNvPr id="251" name="Shape 251"/>
            <p:cNvPicPr preferRelativeResize="0"/>
            <p:nvPr/>
          </p:nvPicPr>
          <p:blipFill rotWithShape="1">
            <a:blip r:embed="rId3">
              <a:alphaModFix/>
            </a:blip>
            <a:srcRect b="9132" l="18540" r="18288" t="8298"/>
            <a:stretch/>
          </p:blipFill>
          <p:spPr>
            <a:xfrm>
              <a:off x="3731325" y="1225225"/>
              <a:ext cx="5100974" cy="3750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Shape 252"/>
            <p:cNvSpPr txBox="1"/>
            <p:nvPr/>
          </p:nvSpPr>
          <p:spPr>
            <a:xfrm>
              <a:off x="4763550" y="777025"/>
              <a:ext cx="3828300" cy="37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Times New Roman"/>
                  <a:ea typeface="Times New Roman"/>
                  <a:cs typeface="Times New Roman"/>
                  <a:sym typeface="Times New Roman"/>
                </a:rPr>
                <a:t>Nethealth merged ego-networks, Aug 2015 - Dec 2017</a:t>
              </a:r>
              <a:endParaRPr b="1"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Surveys</a:t>
            </a:r>
            <a:endParaRPr/>
          </a:p>
        </p:txBody>
      </p:sp>
      <p:sp>
        <p:nvSpPr>
          <p:cNvPr id="258" name="Shape 258"/>
          <p:cNvSpPr txBox="1"/>
          <p:nvPr>
            <p:ph idx="1" type="body"/>
          </p:nvPr>
        </p:nvSpPr>
        <p:spPr>
          <a:xfrm>
            <a:off x="311700" y="1225225"/>
            <a:ext cx="3380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Name interpreter:</a:t>
            </a:r>
            <a:endParaRPr/>
          </a:p>
          <a:p>
            <a:pPr indent="-3175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Closeness</a:t>
            </a:r>
            <a:endParaRPr/>
          </a:p>
          <a:p>
            <a:pPr indent="-3175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Frequency</a:t>
            </a:r>
            <a:endParaRPr/>
          </a:p>
          <a:p>
            <a:pPr indent="-3175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Duration</a:t>
            </a:r>
            <a:endParaRPr/>
          </a:p>
          <a:p>
            <a:pPr indent="-3175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Role Relation </a:t>
            </a:r>
            <a:endParaRPr/>
          </a:p>
          <a:p>
            <a:pPr indent="-3175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Exchanges</a:t>
            </a:r>
            <a:endParaRPr/>
          </a:p>
          <a:p>
            <a:pPr indent="-3175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Alter demographics</a:t>
            </a:r>
            <a:endParaRPr/>
          </a:p>
          <a:p>
            <a:pPr indent="-3175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Notre Dame contact</a:t>
            </a:r>
            <a:endParaRPr/>
          </a:p>
          <a:p>
            <a:pPr indent="-3175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Dormitory</a:t>
            </a:r>
            <a:endParaRPr/>
          </a:p>
          <a:p>
            <a:pPr indent="0" lvl="0" marL="0" rtl="0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  <p:grpSp>
        <p:nvGrpSpPr>
          <p:cNvPr id="259" name="Shape 259"/>
          <p:cNvGrpSpPr/>
          <p:nvPr/>
        </p:nvGrpSpPr>
        <p:grpSpPr>
          <a:xfrm>
            <a:off x="3731325" y="777025"/>
            <a:ext cx="5100974" cy="4000426"/>
            <a:chOff x="3731325" y="777025"/>
            <a:chExt cx="5100974" cy="4000426"/>
          </a:xfrm>
        </p:grpSpPr>
        <p:pic>
          <p:nvPicPr>
            <p:cNvPr id="260" name="Shape 260"/>
            <p:cNvPicPr preferRelativeResize="0"/>
            <p:nvPr/>
          </p:nvPicPr>
          <p:blipFill rotWithShape="1">
            <a:blip r:embed="rId3">
              <a:alphaModFix/>
            </a:blip>
            <a:srcRect b="9132" l="18540" r="18288" t="8298"/>
            <a:stretch/>
          </p:blipFill>
          <p:spPr>
            <a:xfrm>
              <a:off x="3731325" y="1027000"/>
              <a:ext cx="5100974" cy="3750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Shape 261"/>
            <p:cNvSpPr txBox="1"/>
            <p:nvPr/>
          </p:nvSpPr>
          <p:spPr>
            <a:xfrm>
              <a:off x="4763550" y="777025"/>
              <a:ext cx="3828300" cy="37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Times New Roman"/>
                  <a:ea typeface="Times New Roman"/>
                  <a:cs typeface="Times New Roman"/>
                  <a:sym typeface="Times New Roman"/>
                </a:rPr>
                <a:t>Nethealth merged ego-networks, Aug 2015 - Dec 2017</a:t>
              </a:r>
              <a:endParaRPr b="1"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Measures </a:t>
            </a:r>
            <a:endParaRPr/>
          </a:p>
        </p:txBody>
      </p:sp>
      <p:sp>
        <p:nvSpPr>
          <p:cNvPr id="267" name="Shape 26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 Strength</a:t>
            </a:r>
            <a:endParaRPr/>
          </a:p>
          <a:p>
            <a: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Emotional Closeness </a:t>
            </a:r>
            <a:endParaRPr/>
          </a:p>
          <a:p>
            <a:pPr indent="-317500" lvl="2" marL="1371600" rtl="0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Especially close, close, less than close, distant)</a:t>
            </a:r>
            <a:endParaRPr/>
          </a:p>
          <a:p>
            <a: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Marsden and Campbell (1984)</a:t>
            </a:r>
            <a:endParaRPr/>
          </a:p>
          <a:p>
            <a: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Reported frequency of interaction </a:t>
            </a:r>
            <a:endParaRPr/>
          </a:p>
          <a:p>
            <a:pPr indent="-317500" lvl="2" marL="1371600" rtl="0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Daily, weekly, monthly, less than </a:t>
            </a:r>
            <a:r>
              <a:rPr lang="en"/>
              <a:t>monthly</a:t>
            </a:r>
            <a:r>
              <a:rPr lang="en"/>
              <a:t> over last 3 months)</a:t>
            </a:r>
            <a:endParaRPr/>
          </a:p>
          <a:p>
            <a: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Cognitive Salience 	</a:t>
            </a:r>
            <a:endParaRPr/>
          </a:p>
          <a:p>
            <a:pPr indent="-317500" lvl="2" marL="1371600" rtl="0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Integer for named order, i.e. first, second, third person named)</a:t>
            </a:r>
            <a:endParaRPr/>
          </a:p>
          <a:p>
            <a: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Duration </a:t>
            </a:r>
            <a:endParaRPr/>
          </a:p>
          <a:p>
            <a:pPr indent="-317500" lvl="2" marL="1371600" rtl="0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 long ego has known alter</a:t>
            </a:r>
            <a:endParaRPr/>
          </a:p>
          <a:p>
            <a: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Objective Frequency </a:t>
            </a:r>
            <a:endParaRPr/>
          </a:p>
          <a:p>
            <a:pPr indent="-317500" lvl="2" marL="1371600" rtl="0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N. of days per week ego texted or was texted by alter over last 3 months</a:t>
            </a:r>
            <a:endParaRPr/>
          </a:p>
          <a:p>
            <a:pPr indent="0" lvl="0" marL="0" rtl="0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Measures </a:t>
            </a:r>
            <a:endParaRPr/>
          </a:p>
        </p:txBody>
      </p:sp>
      <p:sp>
        <p:nvSpPr>
          <p:cNvPr id="273" name="Shape 273"/>
          <p:cNvSpPr txBox="1"/>
          <p:nvPr>
            <p:ph idx="1" type="body"/>
          </p:nvPr>
        </p:nvSpPr>
        <p:spPr>
          <a:xfrm>
            <a:off x="311700" y="1225225"/>
            <a:ext cx="3419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Role Relations</a:t>
            </a:r>
            <a:endParaRPr/>
          </a:p>
          <a:p>
            <a:pPr indent="-317500" lvl="1" marL="91440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Family</a:t>
            </a:r>
            <a:endParaRPr/>
          </a:p>
          <a:p>
            <a:pPr indent="-317500" lvl="1" marL="91440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Friends</a:t>
            </a:r>
            <a:endParaRPr/>
          </a:p>
          <a:p>
            <a:pPr indent="-317500" lvl="1" marL="91440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Romantic Partner</a:t>
            </a:r>
            <a:endParaRPr/>
          </a:p>
          <a:p>
            <a:pPr indent="-317500" lvl="1" marL="91440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Acquaintances</a:t>
            </a:r>
            <a:endParaRPr/>
          </a:p>
          <a:p>
            <a:pPr indent="-317500" lvl="1" marL="914400">
              <a:spcBef>
                <a:spcPts val="400"/>
              </a:spcBef>
              <a:spcAft>
                <a:spcPts val="400"/>
              </a:spcAft>
              <a:buSzPts val="1400"/>
              <a:buChar char="○"/>
            </a:pPr>
            <a:r>
              <a:rPr lang="en"/>
              <a:t>Other (neighbor, </a:t>
            </a:r>
            <a:r>
              <a:rPr lang="en"/>
              <a:t>coworker</a:t>
            </a:r>
            <a:r>
              <a:rPr lang="en"/>
              <a:t>, co-member)</a:t>
            </a:r>
            <a:endParaRPr/>
          </a:p>
        </p:txBody>
      </p:sp>
      <p:grpSp>
        <p:nvGrpSpPr>
          <p:cNvPr id="274" name="Shape 274"/>
          <p:cNvGrpSpPr/>
          <p:nvPr/>
        </p:nvGrpSpPr>
        <p:grpSpPr>
          <a:xfrm>
            <a:off x="3731325" y="777025"/>
            <a:ext cx="5100974" cy="4000426"/>
            <a:chOff x="3731325" y="777025"/>
            <a:chExt cx="5100974" cy="4000426"/>
          </a:xfrm>
        </p:grpSpPr>
        <p:pic>
          <p:nvPicPr>
            <p:cNvPr id="275" name="Shape 275"/>
            <p:cNvPicPr preferRelativeResize="0"/>
            <p:nvPr/>
          </p:nvPicPr>
          <p:blipFill rotWithShape="1">
            <a:blip r:embed="rId3">
              <a:alphaModFix/>
            </a:blip>
            <a:srcRect b="9132" l="18540" r="18288" t="8298"/>
            <a:stretch/>
          </p:blipFill>
          <p:spPr>
            <a:xfrm>
              <a:off x="3731325" y="1027000"/>
              <a:ext cx="5100974" cy="3750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6" name="Shape 276"/>
            <p:cNvSpPr txBox="1"/>
            <p:nvPr/>
          </p:nvSpPr>
          <p:spPr>
            <a:xfrm>
              <a:off x="4763550" y="777025"/>
              <a:ext cx="3828300" cy="37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Times New Roman"/>
                  <a:ea typeface="Times New Roman"/>
                  <a:cs typeface="Times New Roman"/>
                  <a:sym typeface="Times New Roman"/>
                </a:rPr>
                <a:t>Nethealth merged ego-networks, Aug 2015 - Dec 2017</a:t>
              </a:r>
              <a:endParaRPr b="1"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28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Measures </a:t>
            </a:r>
            <a:endParaRPr/>
          </a:p>
        </p:txBody>
      </p:sp>
      <p:sp>
        <p:nvSpPr>
          <p:cNvPr id="282" name="Shape 282"/>
          <p:cNvSpPr txBox="1"/>
          <p:nvPr>
            <p:ph idx="1" type="body"/>
          </p:nvPr>
        </p:nvSpPr>
        <p:spPr>
          <a:xfrm>
            <a:off x="311700" y="1225225"/>
            <a:ext cx="3419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Exchanges (support)</a:t>
            </a:r>
            <a:endParaRPr/>
          </a:p>
          <a:p>
            <a:pPr indent="-317500" lvl="1" marL="91440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Financial</a:t>
            </a:r>
            <a:endParaRPr/>
          </a:p>
          <a:p>
            <a:pPr indent="-317500" lvl="1" marL="91440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Comfort</a:t>
            </a:r>
            <a:endParaRPr/>
          </a:p>
          <a:p>
            <a:pPr indent="-317500" lvl="1" marL="91440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Hang out</a:t>
            </a:r>
            <a:endParaRPr/>
          </a:p>
          <a:p>
            <a: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Advice</a:t>
            </a:r>
            <a:endParaRPr/>
          </a:p>
          <a:p>
            <a:pPr indent="-317500" lvl="1" marL="914400">
              <a:spcBef>
                <a:spcPts val="400"/>
              </a:spcBef>
              <a:spcAft>
                <a:spcPts val="400"/>
              </a:spcAft>
              <a:buSzPts val="1400"/>
              <a:buChar char="○"/>
            </a:pPr>
            <a:r>
              <a:rPr lang="en"/>
              <a:t>A priori derived combinations of these</a:t>
            </a:r>
            <a:endParaRPr/>
          </a:p>
        </p:txBody>
      </p:sp>
      <p:grpSp>
        <p:nvGrpSpPr>
          <p:cNvPr id="283" name="Shape 283"/>
          <p:cNvGrpSpPr/>
          <p:nvPr/>
        </p:nvGrpSpPr>
        <p:grpSpPr>
          <a:xfrm>
            <a:off x="3731325" y="777025"/>
            <a:ext cx="5100974" cy="4000426"/>
            <a:chOff x="3731325" y="777025"/>
            <a:chExt cx="5100974" cy="4000426"/>
          </a:xfrm>
        </p:grpSpPr>
        <p:pic>
          <p:nvPicPr>
            <p:cNvPr id="284" name="Shape 284"/>
            <p:cNvPicPr preferRelativeResize="0"/>
            <p:nvPr/>
          </p:nvPicPr>
          <p:blipFill rotWithShape="1">
            <a:blip r:embed="rId3">
              <a:alphaModFix/>
            </a:blip>
            <a:srcRect b="9132" l="18540" r="18288" t="8298"/>
            <a:stretch/>
          </p:blipFill>
          <p:spPr>
            <a:xfrm>
              <a:off x="3731325" y="1027000"/>
              <a:ext cx="5100974" cy="3750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5" name="Shape 285"/>
            <p:cNvSpPr txBox="1"/>
            <p:nvPr/>
          </p:nvSpPr>
          <p:spPr>
            <a:xfrm>
              <a:off x="4763550" y="777025"/>
              <a:ext cx="3828300" cy="37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Times New Roman"/>
                  <a:ea typeface="Times New Roman"/>
                  <a:cs typeface="Times New Roman"/>
                  <a:sym typeface="Times New Roman"/>
                </a:rPr>
                <a:t>Nethealth merged ego-networks, Aug 2015 - Dec 2017</a:t>
              </a:r>
              <a:endParaRPr b="1"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hape 29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information</a:t>
            </a:r>
            <a:endParaRPr/>
          </a:p>
        </p:txBody>
      </p:sp>
      <p:sp>
        <p:nvSpPr>
          <p:cNvPr id="291" name="Shape 291"/>
          <p:cNvSpPr txBox="1"/>
          <p:nvPr>
            <p:ph idx="1" type="body"/>
          </p:nvPr>
        </p:nvSpPr>
        <p:spPr>
          <a:xfrm>
            <a:off x="311700" y="1225225"/>
            <a:ext cx="3419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Ego demographics</a:t>
            </a:r>
            <a:endParaRPr/>
          </a:p>
          <a:p>
            <a: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Gender</a:t>
            </a:r>
            <a:endParaRPr/>
          </a:p>
          <a:p>
            <a: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Race, </a:t>
            </a:r>
            <a:endParaRPr/>
          </a:p>
          <a:p>
            <a: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Religion</a:t>
            </a:r>
            <a:endParaRPr/>
          </a:p>
          <a:p>
            <a: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ND student</a:t>
            </a:r>
            <a:endParaRPr/>
          </a:p>
          <a:p>
            <a:pPr indent="-342900" lvl="0" marL="457200" rtl="0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 dyadic measures</a:t>
            </a:r>
            <a:endParaRPr/>
          </a:p>
          <a:p>
            <a: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Perceived similarity</a:t>
            </a:r>
            <a:endParaRPr/>
          </a:p>
          <a:p>
            <a:pPr indent="-317500" lvl="1" marL="914400" rtl="0">
              <a:spcBef>
                <a:spcPts val="4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Common activities </a:t>
            </a:r>
            <a:endParaRPr/>
          </a:p>
          <a:p>
            <a:pPr indent="-317500" lvl="2" marL="1371600">
              <a:spcBef>
                <a:spcPts val="400"/>
              </a:spcBef>
              <a:spcAft>
                <a:spcPts val="400"/>
              </a:spcAft>
              <a:buSzPts val="1400"/>
              <a:buChar char="■"/>
            </a:pPr>
            <a:r>
              <a:rPr lang="en"/>
              <a:t>Feld (1982)</a:t>
            </a:r>
            <a:endParaRPr/>
          </a:p>
        </p:txBody>
      </p:sp>
      <p:grpSp>
        <p:nvGrpSpPr>
          <p:cNvPr id="292" name="Shape 292"/>
          <p:cNvGrpSpPr/>
          <p:nvPr/>
        </p:nvGrpSpPr>
        <p:grpSpPr>
          <a:xfrm>
            <a:off x="3731325" y="777025"/>
            <a:ext cx="5100974" cy="4000426"/>
            <a:chOff x="3731325" y="777025"/>
            <a:chExt cx="5100974" cy="4000426"/>
          </a:xfrm>
        </p:grpSpPr>
        <p:pic>
          <p:nvPicPr>
            <p:cNvPr id="293" name="Shape 293"/>
            <p:cNvPicPr preferRelativeResize="0"/>
            <p:nvPr/>
          </p:nvPicPr>
          <p:blipFill rotWithShape="1">
            <a:blip r:embed="rId3">
              <a:alphaModFix/>
            </a:blip>
            <a:srcRect b="9132" l="18540" r="18288" t="8298"/>
            <a:stretch/>
          </p:blipFill>
          <p:spPr>
            <a:xfrm>
              <a:off x="3731325" y="1027000"/>
              <a:ext cx="5100974" cy="3750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" name="Shape 294"/>
            <p:cNvSpPr txBox="1"/>
            <p:nvPr/>
          </p:nvSpPr>
          <p:spPr>
            <a:xfrm>
              <a:off x="4763550" y="777025"/>
              <a:ext cx="3828300" cy="37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Times New Roman"/>
                  <a:ea typeface="Times New Roman"/>
                  <a:cs typeface="Times New Roman"/>
                  <a:sym typeface="Times New Roman"/>
                </a:rPr>
                <a:t>Nethealth merged ego-networks, Aug 2015 - Dec 2017</a:t>
              </a:r>
              <a:endParaRPr b="1"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29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Log-linear Models</a:t>
            </a:r>
            <a:endParaRPr/>
          </a:p>
        </p:txBody>
      </p:sp>
      <p:pic>
        <p:nvPicPr>
          <p:cNvPr id="300" name="Shape 3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425" y="1335375"/>
            <a:ext cx="5048624" cy="52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Shape 3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475" y="2397925"/>
            <a:ext cx="4858774" cy="38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Shape 3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6725" y="2750675"/>
            <a:ext cx="3735274" cy="92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Shape 30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6725" y="1859175"/>
            <a:ext cx="3790500" cy="47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308"/>
          <p:cNvSpPr txBox="1"/>
          <p:nvPr/>
        </p:nvSpPr>
        <p:spPr>
          <a:xfrm>
            <a:off x="6672900" y="5063625"/>
            <a:ext cx="5611200" cy="6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9" name="Shape 3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187" y="152400"/>
            <a:ext cx="7487626" cy="475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Shape 3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413" y="103700"/>
            <a:ext cx="759917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Shape 319"/>
          <p:cNvPicPr preferRelativeResize="0"/>
          <p:nvPr/>
        </p:nvPicPr>
        <p:blipFill rotWithShape="1">
          <a:blip r:embed="rId3">
            <a:alphaModFix/>
          </a:blip>
          <a:srcRect b="0" l="0" r="0" t="3053"/>
          <a:stretch/>
        </p:blipFill>
        <p:spPr>
          <a:xfrm>
            <a:off x="945861" y="300071"/>
            <a:ext cx="2054075" cy="459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Shape 3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4950" y="300075"/>
            <a:ext cx="2054075" cy="459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Shape 3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44047" y="259652"/>
            <a:ext cx="2054092" cy="4624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Shape 3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1557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Shape 3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026" y="152400"/>
            <a:ext cx="779394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Shape 3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99" y="160818"/>
            <a:ext cx="8839201" cy="4821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Shape 3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18675"/>
            <a:ext cx="8839200" cy="4506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Shape 346"/>
          <p:cNvPicPr preferRelativeResize="0"/>
          <p:nvPr/>
        </p:nvPicPr>
        <p:blipFill rotWithShape="1">
          <a:blip r:embed="rId3">
            <a:alphaModFix/>
          </a:blip>
          <a:srcRect b="16823" l="4236" r="4263" t="10092"/>
          <a:stretch/>
        </p:blipFill>
        <p:spPr>
          <a:xfrm>
            <a:off x="149375" y="584850"/>
            <a:ext cx="8845248" cy="3973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351"/>
          <p:cNvSpPr txBox="1"/>
          <p:nvPr>
            <p:ph type="title"/>
          </p:nvPr>
        </p:nvSpPr>
        <p:spPr>
          <a:xfrm>
            <a:off x="311700" y="319525"/>
            <a:ext cx="1881600" cy="125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 &amp; Tie Strength </a:t>
            </a:r>
            <a:endParaRPr/>
          </a:p>
        </p:txBody>
      </p:sp>
      <p:pic>
        <p:nvPicPr>
          <p:cNvPr id="352" name="Shape 3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5625" y="125825"/>
            <a:ext cx="2152057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Shape 3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3062" y="125813"/>
            <a:ext cx="2204850" cy="489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Shape 3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93288" y="197175"/>
            <a:ext cx="2152050" cy="4749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Shape 35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&amp; Support</a:t>
            </a:r>
            <a:endParaRPr/>
          </a:p>
        </p:txBody>
      </p:sp>
      <p:sp>
        <p:nvSpPr>
          <p:cNvPr id="360" name="Shape 360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Full Support &amp; Financial Support</a:t>
            </a:r>
            <a:endParaRPr/>
          </a:p>
          <a:p>
            <a: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Family, not friends</a:t>
            </a:r>
            <a:endParaRPr/>
          </a:p>
          <a:p>
            <a: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Social Support </a:t>
            </a:r>
            <a:endParaRPr/>
          </a:p>
          <a:p>
            <a: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Not family</a:t>
            </a:r>
            <a:endParaRPr/>
          </a:p>
          <a:p>
            <a: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Friends</a:t>
            </a:r>
            <a:endParaRPr/>
          </a:p>
          <a:p>
            <a: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Not acquaintances</a:t>
            </a:r>
            <a:endParaRPr/>
          </a:p>
          <a:p>
            <a: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Advice/Comfort</a:t>
            </a:r>
            <a:endParaRPr/>
          </a:p>
          <a:p>
            <a: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Family</a:t>
            </a:r>
            <a:endParaRPr/>
          </a:p>
          <a:p>
            <a: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Acquaintances (small N)</a:t>
            </a:r>
            <a:endParaRPr/>
          </a:p>
          <a:p>
            <a: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No support</a:t>
            </a:r>
            <a:endParaRPr/>
          </a:p>
          <a:p>
            <a: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Acquaintances &amp; Other</a:t>
            </a:r>
            <a:endParaRPr/>
          </a:p>
        </p:txBody>
      </p:sp>
      <p:pic>
        <p:nvPicPr>
          <p:cNvPr id="361" name="Shape 3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900" y="152400"/>
            <a:ext cx="2261161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Shape 3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6388"/>
            <a:ext cx="8839200" cy="469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Shape 3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5154"/>
            <a:ext cx="8839201" cy="4713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Shape 3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38480"/>
            <a:ext cx="8839201" cy="4266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382" name="Shape 38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Indicators of strength are interdependent but not in a complex way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Very few three-way interactions</a:t>
            </a:r>
            <a:endParaRPr/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Students ego-networks mainly composed of: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Close ties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Frequently activated ties (e.g daily)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Friends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Recently formed ties (except for family)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who provide companionship support</a:t>
            </a:r>
            <a:endParaRPr/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 strength profile differentiated by role relations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Family ties activated less frequently than friend ties</a:t>
            </a:r>
            <a:endParaRPr/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 differentiated by role relations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Family provided the most </a:t>
            </a:r>
            <a:r>
              <a:rPr lang="en"/>
              <a:t>variegated</a:t>
            </a:r>
            <a:r>
              <a:rPr lang="en"/>
              <a:t> types of support</a:t>
            </a:r>
            <a:endParaRPr/>
          </a:p>
          <a:p>
            <a: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Support differentiation by role relations temporally stable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